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" charset="1" panose="00000500000000000000"/>
      <p:regular r:id="rId12"/>
    </p:embeddedFont>
    <p:embeddedFont>
      <p:font typeface="Times New Roman MT Condensed Bold" charset="1" panose="02030806070405020303"/>
      <p:regular r:id="rId13"/>
    </p:embeddedFont>
    <p:embeddedFont>
      <p:font typeface="Times New Roman MT Condensed" charset="1" panose="02030506070405020303"/>
      <p:regular r:id="rId14"/>
    </p:embeddedFont>
    <p:embeddedFont>
      <p:font typeface="Open Sauce Heavy" charset="1" panose="00000A00000000000000"/>
      <p:regular r:id="rId15"/>
    </p:embeddedFont>
    <p:embeddedFont>
      <p:font typeface="Open Sauce Bold" charset="1" panose="00000800000000000000"/>
      <p:regular r:id="rId16"/>
    </p:embeddedFont>
    <p:embeddedFont>
      <p:font typeface="TT Fors" charset="1" panose="020B0003030001020000"/>
      <p:regular r:id="rId17"/>
    </p:embeddedFont>
    <p:embeddedFont>
      <p:font typeface="Open Sau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11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81107">
            <a:off x="-4904372" y="-2900905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0" y="0"/>
                </a:moveTo>
                <a:lnTo>
                  <a:pt x="16569250" y="0"/>
                </a:lnTo>
                <a:lnTo>
                  <a:pt x="16569250" y="12532378"/>
                </a:lnTo>
                <a:lnTo>
                  <a:pt x="0" y="12532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360641">
            <a:off x="-7104090" y="-2876549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0" y="0"/>
                </a:moveTo>
                <a:lnTo>
                  <a:pt x="16569250" y="0"/>
                </a:lnTo>
                <a:lnTo>
                  <a:pt x="16569250" y="12532378"/>
                </a:lnTo>
                <a:lnTo>
                  <a:pt x="0" y="12532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42051" y="481964"/>
            <a:ext cx="8300204" cy="97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SMART INDIA HACKATHON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2051" y="1596027"/>
            <a:ext cx="8150423" cy="30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FLOOD MEMORY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AI-Powered Hyperlocal Flood Intelligence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&amp;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Community Reporting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46152" y="4871272"/>
            <a:ext cx="9333958" cy="468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Problem Statement ID: SIH260085.</a:t>
            </a:r>
          </a:p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Problem Statement Title: Urban Flood Nowcasting System (Drainage and Rainfall Coupling)</a:t>
            </a:r>
          </a:p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Theme: Disaster Management</a:t>
            </a:r>
          </a:p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PS Category: Software</a:t>
            </a:r>
          </a:p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Team ID: [Team ID]</a:t>
            </a:r>
          </a:p>
          <a:p>
            <a:pPr algn="l" marL="812742" indent="-406371" lvl="1">
              <a:lnSpc>
                <a:spcPts val="5270"/>
              </a:lnSpc>
              <a:buFont typeface="Arial"/>
              <a:buChar char="•"/>
            </a:pPr>
            <a:r>
              <a:rPr lang="en-US" sz="3764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Team Name: Hive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675421">
            <a:off x="-8619695" y="2701261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0" y="12532378"/>
                </a:moveTo>
                <a:lnTo>
                  <a:pt x="16569250" y="12532378"/>
                </a:lnTo>
                <a:lnTo>
                  <a:pt x="16569250" y="0"/>
                </a:lnTo>
                <a:lnTo>
                  <a:pt x="0" y="0"/>
                </a:lnTo>
                <a:lnTo>
                  <a:pt x="0" y="12532378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6677999">
            <a:off x="10334361" y="2701261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16569250" y="12532378"/>
                </a:moveTo>
                <a:lnTo>
                  <a:pt x="0" y="12532378"/>
                </a:lnTo>
                <a:lnTo>
                  <a:pt x="0" y="0"/>
                </a:lnTo>
                <a:lnTo>
                  <a:pt x="16569250" y="0"/>
                </a:lnTo>
                <a:lnTo>
                  <a:pt x="16569250" y="12532378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6053395">
            <a:off x="-10188565" y="1795610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0" y="12532378"/>
                </a:moveTo>
                <a:lnTo>
                  <a:pt x="16569249" y="12532378"/>
                </a:lnTo>
                <a:lnTo>
                  <a:pt x="16569249" y="0"/>
                </a:lnTo>
                <a:lnTo>
                  <a:pt x="0" y="0"/>
                </a:lnTo>
                <a:lnTo>
                  <a:pt x="0" y="125323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6053999">
            <a:off x="11906093" y="1795610"/>
            <a:ext cx="16569250" cy="12532378"/>
          </a:xfrm>
          <a:custGeom>
            <a:avLst/>
            <a:gdLst/>
            <a:ahLst/>
            <a:cxnLst/>
            <a:rect r="r" b="b" t="t" l="l"/>
            <a:pathLst>
              <a:path h="12532378" w="16569250">
                <a:moveTo>
                  <a:pt x="16569249" y="12532378"/>
                </a:moveTo>
                <a:lnTo>
                  <a:pt x="0" y="12532378"/>
                </a:lnTo>
                <a:lnTo>
                  <a:pt x="0" y="0"/>
                </a:lnTo>
                <a:lnTo>
                  <a:pt x="16569249" y="0"/>
                </a:lnTo>
                <a:lnTo>
                  <a:pt x="16569249" y="125323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131" y="493877"/>
            <a:ext cx="13079738" cy="216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b="true" sz="5029" spc="-211">
                <a:solidFill>
                  <a:srgbClr val="4ABAB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AI-Powered Hyperlocal Flood Intelligence</a:t>
            </a:r>
            <a:r>
              <a:rPr lang="en-US" b="true" sz="5029" spc="-211">
                <a:solidFill>
                  <a:srgbClr val="4ABAB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 &amp; Community Reporting System</a:t>
            </a:r>
          </a:p>
          <a:p>
            <a:pPr algn="ctr">
              <a:lnSpc>
                <a:spcPts val="568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079991" y="3994366"/>
            <a:ext cx="4130600" cy="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Conse</a:t>
            </a:r>
            <a:r>
              <a:rPr lang="en-US" b="true" sz="2650" spc="-1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rv</a:t>
            </a:r>
            <a:r>
              <a:rPr lang="en-US" b="true" sz="2650" spc="-1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 Programs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4372" y="5114509"/>
            <a:ext cx="5321836" cy="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Infr</a:t>
            </a:r>
            <a:r>
              <a:rPr lang="en-US" b="true" sz="2650" spc="-1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astructure Improvements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45992" y="8428951"/>
            <a:ext cx="2985337" cy="2990775"/>
          </a:xfrm>
          <a:custGeom>
            <a:avLst/>
            <a:gdLst/>
            <a:ahLst/>
            <a:cxnLst/>
            <a:rect r="r" b="b" t="t" l="l"/>
            <a:pathLst>
              <a:path h="2990775" w="2985337">
                <a:moveTo>
                  <a:pt x="0" y="0"/>
                </a:moveTo>
                <a:lnTo>
                  <a:pt x="2985337" y="0"/>
                </a:lnTo>
                <a:lnTo>
                  <a:pt x="2985337" y="2990774"/>
                </a:lnTo>
                <a:lnTo>
                  <a:pt x="0" y="2990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756671" y="8428951"/>
            <a:ext cx="2985337" cy="2990775"/>
          </a:xfrm>
          <a:custGeom>
            <a:avLst/>
            <a:gdLst/>
            <a:ahLst/>
            <a:cxnLst/>
            <a:rect r="r" b="b" t="t" l="l"/>
            <a:pathLst>
              <a:path h="2990775" w="2985337">
                <a:moveTo>
                  <a:pt x="2985337" y="0"/>
                </a:moveTo>
                <a:lnTo>
                  <a:pt x="0" y="0"/>
                </a:lnTo>
                <a:lnTo>
                  <a:pt x="0" y="2990774"/>
                </a:lnTo>
                <a:lnTo>
                  <a:pt x="2985337" y="2990774"/>
                </a:lnTo>
                <a:lnTo>
                  <a:pt x="2985337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38998" y="2479377"/>
            <a:ext cx="14426453" cy="7444961"/>
          </a:xfrm>
          <a:custGeom>
            <a:avLst/>
            <a:gdLst/>
            <a:ahLst/>
            <a:cxnLst/>
            <a:rect r="r" b="b" t="t" l="l"/>
            <a:pathLst>
              <a:path h="7444961" w="14426453">
                <a:moveTo>
                  <a:pt x="0" y="0"/>
                </a:moveTo>
                <a:lnTo>
                  <a:pt x="14426453" y="0"/>
                </a:lnTo>
                <a:lnTo>
                  <a:pt x="14426453" y="7444961"/>
                </a:lnTo>
                <a:lnTo>
                  <a:pt x="0" y="744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1" t="0" r="-721" b="-1184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3700221">
            <a:off x="13036823" y="-1653660"/>
            <a:ext cx="10042175" cy="7595536"/>
          </a:xfrm>
          <a:custGeom>
            <a:avLst/>
            <a:gdLst/>
            <a:ahLst/>
            <a:cxnLst/>
            <a:rect r="r" b="b" t="t" l="l"/>
            <a:pathLst>
              <a:path h="7595536" w="10042175">
                <a:moveTo>
                  <a:pt x="10042175" y="7595536"/>
                </a:moveTo>
                <a:lnTo>
                  <a:pt x="0" y="7595536"/>
                </a:lnTo>
                <a:lnTo>
                  <a:pt x="0" y="0"/>
                </a:lnTo>
                <a:lnTo>
                  <a:pt x="10042175" y="0"/>
                </a:lnTo>
                <a:lnTo>
                  <a:pt x="10042175" y="7595536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3701999">
            <a:off x="-4792352" y="-1653660"/>
            <a:ext cx="10042175" cy="7595536"/>
          </a:xfrm>
          <a:custGeom>
            <a:avLst/>
            <a:gdLst/>
            <a:ahLst/>
            <a:cxnLst/>
            <a:rect r="r" b="b" t="t" l="l"/>
            <a:pathLst>
              <a:path h="7595536" w="10042175">
                <a:moveTo>
                  <a:pt x="0" y="7595536"/>
                </a:moveTo>
                <a:lnTo>
                  <a:pt x="10042174" y="7595536"/>
                </a:lnTo>
                <a:lnTo>
                  <a:pt x="10042174" y="0"/>
                </a:lnTo>
                <a:lnTo>
                  <a:pt x="0" y="0"/>
                </a:lnTo>
                <a:lnTo>
                  <a:pt x="0" y="7595536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3082221">
            <a:off x="13364119" y="-2769068"/>
            <a:ext cx="10042175" cy="7595536"/>
          </a:xfrm>
          <a:custGeom>
            <a:avLst/>
            <a:gdLst/>
            <a:ahLst/>
            <a:cxnLst/>
            <a:rect r="r" b="b" t="t" l="l"/>
            <a:pathLst>
              <a:path h="7595536" w="10042175">
                <a:moveTo>
                  <a:pt x="10042174" y="7595536"/>
                </a:moveTo>
                <a:lnTo>
                  <a:pt x="0" y="7595536"/>
                </a:lnTo>
                <a:lnTo>
                  <a:pt x="0" y="0"/>
                </a:lnTo>
                <a:lnTo>
                  <a:pt x="10042174" y="0"/>
                </a:lnTo>
                <a:lnTo>
                  <a:pt x="10042174" y="75955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3083999">
            <a:off x="-5119097" y="-2769068"/>
            <a:ext cx="10042175" cy="7595536"/>
          </a:xfrm>
          <a:custGeom>
            <a:avLst/>
            <a:gdLst/>
            <a:ahLst/>
            <a:cxnLst/>
            <a:rect r="r" b="b" t="t" l="l"/>
            <a:pathLst>
              <a:path h="7595536" w="10042175">
                <a:moveTo>
                  <a:pt x="0" y="7595536"/>
                </a:moveTo>
                <a:lnTo>
                  <a:pt x="10042175" y="7595536"/>
                </a:lnTo>
                <a:lnTo>
                  <a:pt x="10042175" y="0"/>
                </a:lnTo>
                <a:lnTo>
                  <a:pt x="0" y="0"/>
                </a:lnTo>
                <a:lnTo>
                  <a:pt x="0" y="75955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27479" y="7588832"/>
            <a:ext cx="3816433" cy="3823385"/>
          </a:xfrm>
          <a:custGeom>
            <a:avLst/>
            <a:gdLst/>
            <a:ahLst/>
            <a:cxnLst/>
            <a:rect r="r" b="b" t="t" l="l"/>
            <a:pathLst>
              <a:path h="3823385" w="3816433">
                <a:moveTo>
                  <a:pt x="0" y="0"/>
                </a:moveTo>
                <a:lnTo>
                  <a:pt x="3816433" y="0"/>
                </a:lnTo>
                <a:lnTo>
                  <a:pt x="3816433" y="3823385"/>
                </a:lnTo>
                <a:lnTo>
                  <a:pt x="0" y="3823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055912" y="7588832"/>
            <a:ext cx="3816433" cy="3823385"/>
          </a:xfrm>
          <a:custGeom>
            <a:avLst/>
            <a:gdLst/>
            <a:ahLst/>
            <a:cxnLst/>
            <a:rect r="r" b="b" t="t" l="l"/>
            <a:pathLst>
              <a:path h="3823385" w="3816433">
                <a:moveTo>
                  <a:pt x="3816433" y="0"/>
                </a:moveTo>
                <a:lnTo>
                  <a:pt x="0" y="0"/>
                </a:lnTo>
                <a:lnTo>
                  <a:pt x="0" y="3823385"/>
                </a:lnTo>
                <a:lnTo>
                  <a:pt x="3816433" y="3823385"/>
                </a:lnTo>
                <a:lnTo>
                  <a:pt x="3816433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75592" y="5197882"/>
            <a:ext cx="813312" cy="819271"/>
          </a:xfrm>
          <a:custGeom>
            <a:avLst/>
            <a:gdLst/>
            <a:ahLst/>
            <a:cxnLst/>
            <a:rect r="r" b="b" t="t" l="l"/>
            <a:pathLst>
              <a:path h="819271" w="813312">
                <a:moveTo>
                  <a:pt x="0" y="0"/>
                </a:moveTo>
                <a:lnTo>
                  <a:pt x="813312" y="0"/>
                </a:lnTo>
                <a:lnTo>
                  <a:pt x="813312" y="819271"/>
                </a:lnTo>
                <a:lnTo>
                  <a:pt x="0" y="819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44827" y="5197882"/>
            <a:ext cx="728117" cy="819271"/>
          </a:xfrm>
          <a:custGeom>
            <a:avLst/>
            <a:gdLst/>
            <a:ahLst/>
            <a:cxnLst/>
            <a:rect r="r" b="b" t="t" l="l"/>
            <a:pathLst>
              <a:path h="819271" w="728117">
                <a:moveTo>
                  <a:pt x="0" y="0"/>
                </a:moveTo>
                <a:lnTo>
                  <a:pt x="728117" y="0"/>
                </a:lnTo>
                <a:lnTo>
                  <a:pt x="728117" y="819271"/>
                </a:lnTo>
                <a:lnTo>
                  <a:pt x="0" y="8192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66441" y="2144108"/>
            <a:ext cx="13365110" cy="7551344"/>
          </a:xfrm>
          <a:custGeom>
            <a:avLst/>
            <a:gdLst/>
            <a:ahLst/>
            <a:cxnLst/>
            <a:rect r="r" b="b" t="t" l="l"/>
            <a:pathLst>
              <a:path h="7551344" w="13365110">
                <a:moveTo>
                  <a:pt x="0" y="0"/>
                </a:moveTo>
                <a:lnTo>
                  <a:pt x="13365110" y="0"/>
                </a:lnTo>
                <a:lnTo>
                  <a:pt x="13365110" y="7551344"/>
                </a:lnTo>
                <a:lnTo>
                  <a:pt x="0" y="7551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7826" r="0" b="-16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53165" y="575945"/>
            <a:ext cx="9591662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4"/>
              </a:lnSpc>
            </a:pPr>
            <a:r>
              <a:rPr lang="en-US" b="true" sz="6499" spc="-272">
                <a:solidFill>
                  <a:srgbClr val="4ABAB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50" y="2428875"/>
            <a:ext cx="9286875" cy="726872"/>
            <a:chOff x="0" y="0"/>
            <a:chExt cx="12382500" cy="969162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2382500" cy="969137"/>
            </a:xfrm>
            <a:custGeom>
              <a:avLst/>
              <a:gdLst/>
              <a:ahLst/>
              <a:cxnLst/>
              <a:rect r="r" b="b" t="t" l="l"/>
              <a:pathLst>
                <a:path h="969137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969137"/>
                  </a:lnTo>
                  <a:lnTo>
                    <a:pt x="0" y="96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3" r="0" b="-1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-701869"/>
            <a:ext cx="7143750" cy="558994"/>
            <a:chOff x="0" y="0"/>
            <a:chExt cx="9525000" cy="7453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525000" cy="745363"/>
            </a:xfrm>
            <a:custGeom>
              <a:avLst/>
              <a:gdLst/>
              <a:ahLst/>
              <a:cxnLst/>
              <a:rect r="r" b="b" t="t" l="l"/>
              <a:pathLst>
                <a:path h="745363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5363"/>
                  </a:lnTo>
                  <a:lnTo>
                    <a:pt x="0" y="745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17" r="0" b="-11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1625" y="2619156"/>
            <a:ext cx="388934" cy="590988"/>
            <a:chOff x="0" y="0"/>
            <a:chExt cx="518579" cy="7879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18541" cy="788035"/>
            </a:xfrm>
            <a:custGeom>
              <a:avLst/>
              <a:gdLst/>
              <a:ahLst/>
              <a:cxnLst/>
              <a:rect r="r" b="b" t="t" l="l"/>
              <a:pathLst>
                <a:path h="788035" w="518541">
                  <a:moveTo>
                    <a:pt x="0" y="0"/>
                  </a:moveTo>
                  <a:lnTo>
                    <a:pt x="518541" y="0"/>
                  </a:lnTo>
                  <a:lnTo>
                    <a:pt x="518541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1" t="0" r="-656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062" y="2795083"/>
            <a:ext cx="289350" cy="410585"/>
            <a:chOff x="0" y="0"/>
            <a:chExt cx="385801" cy="54744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85826" cy="547497"/>
            </a:xfrm>
            <a:custGeom>
              <a:avLst/>
              <a:gdLst/>
              <a:ahLst/>
              <a:cxnLst/>
              <a:rect r="r" b="b" t="t" l="l"/>
              <a:pathLst>
                <a:path h="547497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547497"/>
                  </a:lnTo>
                  <a:lnTo>
                    <a:pt x="0" y="547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30" t="0" r="-2021" b="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6838" y="2969162"/>
            <a:ext cx="203578" cy="233886"/>
            <a:chOff x="0" y="0"/>
            <a:chExt cx="271437" cy="31184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71399" cy="311785"/>
            </a:xfrm>
            <a:custGeom>
              <a:avLst/>
              <a:gdLst/>
              <a:ahLst/>
              <a:cxnLst/>
              <a:rect r="r" b="b" t="t" l="l"/>
              <a:pathLst>
                <a:path h="311785" w="271399">
                  <a:moveTo>
                    <a:pt x="0" y="0"/>
                  </a:moveTo>
                  <a:lnTo>
                    <a:pt x="271399" y="0"/>
                  </a:lnTo>
                  <a:lnTo>
                    <a:pt x="271399" y="311785"/>
                  </a:lnTo>
                  <a:lnTo>
                    <a:pt x="0" y="31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24" r="-14" b="-224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93994" y="6844827"/>
            <a:ext cx="228600" cy="228600"/>
            <a:chOff x="0" y="0"/>
            <a:chExt cx="3048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80281" y="6844827"/>
            <a:ext cx="228600" cy="228600"/>
            <a:chOff x="0" y="0"/>
            <a:chExt cx="304800" cy="304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86838" y="7759227"/>
            <a:ext cx="228600" cy="228600"/>
            <a:chOff x="0" y="0"/>
            <a:chExt cx="304800" cy="304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25" r="0" b="-312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451681" y="7759227"/>
            <a:ext cx="285750" cy="228600"/>
            <a:chOff x="0" y="0"/>
            <a:chExt cx="381000" cy="304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2642" t="0" r="-52642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752710" y="320749"/>
            <a:ext cx="14468254" cy="9645503"/>
          </a:xfrm>
          <a:custGeom>
            <a:avLst/>
            <a:gdLst/>
            <a:ahLst/>
            <a:cxnLst/>
            <a:rect r="r" b="b" t="t" l="l"/>
            <a:pathLst>
              <a:path h="9645503" w="14468254">
                <a:moveTo>
                  <a:pt x="0" y="0"/>
                </a:moveTo>
                <a:lnTo>
                  <a:pt x="14468255" y="0"/>
                </a:lnTo>
                <a:lnTo>
                  <a:pt x="14468255" y="9645502"/>
                </a:lnTo>
                <a:lnTo>
                  <a:pt x="0" y="9645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451681" y="-422372"/>
            <a:ext cx="4767425" cy="1780861"/>
            <a:chOff x="0" y="0"/>
            <a:chExt cx="1255618" cy="4690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5618" cy="469033"/>
            </a:xfrm>
            <a:custGeom>
              <a:avLst/>
              <a:gdLst/>
              <a:ahLst/>
              <a:cxnLst/>
              <a:rect r="r" b="b" t="t" l="l"/>
              <a:pathLst>
                <a:path h="469033" w="1255618">
                  <a:moveTo>
                    <a:pt x="0" y="0"/>
                  </a:moveTo>
                  <a:lnTo>
                    <a:pt x="1255618" y="0"/>
                  </a:lnTo>
                  <a:lnTo>
                    <a:pt x="1255618" y="469033"/>
                  </a:lnTo>
                  <a:lnTo>
                    <a:pt x="0" y="4690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55618" cy="50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8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3681" y="3938239"/>
            <a:ext cx="1247137" cy="12471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2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46564" y="5466625"/>
            <a:ext cx="1247137" cy="12471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589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95225" y="7127647"/>
            <a:ext cx="1247137" cy="1119128"/>
            <a:chOff x="0" y="0"/>
            <a:chExt cx="812800" cy="729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29372"/>
            </a:xfrm>
            <a:custGeom>
              <a:avLst/>
              <a:gdLst/>
              <a:ahLst/>
              <a:cxnLst/>
              <a:rect r="r" b="b" t="t" l="l"/>
              <a:pathLst>
                <a:path h="729372" w="812800">
                  <a:moveTo>
                    <a:pt x="406400" y="0"/>
                  </a:moveTo>
                  <a:cubicBezTo>
                    <a:pt x="181951" y="0"/>
                    <a:pt x="0" y="163276"/>
                    <a:pt x="0" y="364686"/>
                  </a:cubicBezTo>
                  <a:cubicBezTo>
                    <a:pt x="0" y="566097"/>
                    <a:pt x="181951" y="729372"/>
                    <a:pt x="406400" y="729372"/>
                  </a:cubicBezTo>
                  <a:cubicBezTo>
                    <a:pt x="630849" y="729372"/>
                    <a:pt x="812800" y="566097"/>
                    <a:pt x="812800" y="364686"/>
                  </a:cubicBezTo>
                  <a:cubicBezTo>
                    <a:pt x="812800" y="1632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B2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0279"/>
              <a:ext cx="660400" cy="630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805641" y="4145165"/>
            <a:ext cx="703216" cy="745420"/>
          </a:xfrm>
          <a:custGeom>
            <a:avLst/>
            <a:gdLst/>
            <a:ahLst/>
            <a:cxnLst/>
            <a:rect r="r" b="b" t="t" l="l"/>
            <a:pathLst>
              <a:path h="745420" w="703216">
                <a:moveTo>
                  <a:pt x="0" y="0"/>
                </a:moveTo>
                <a:lnTo>
                  <a:pt x="703217" y="0"/>
                </a:lnTo>
                <a:lnTo>
                  <a:pt x="703217" y="745420"/>
                </a:lnTo>
                <a:lnTo>
                  <a:pt x="0" y="74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18524" y="5716536"/>
            <a:ext cx="703216" cy="691709"/>
          </a:xfrm>
          <a:custGeom>
            <a:avLst/>
            <a:gdLst/>
            <a:ahLst/>
            <a:cxnLst/>
            <a:rect r="r" b="b" t="t" l="l"/>
            <a:pathLst>
              <a:path h="691709" w="703216">
                <a:moveTo>
                  <a:pt x="0" y="0"/>
                </a:moveTo>
                <a:lnTo>
                  <a:pt x="703216" y="0"/>
                </a:lnTo>
                <a:lnTo>
                  <a:pt x="703216" y="691709"/>
                </a:lnTo>
                <a:lnTo>
                  <a:pt x="0" y="691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77364" y="7294443"/>
            <a:ext cx="785536" cy="785536"/>
          </a:xfrm>
          <a:custGeom>
            <a:avLst/>
            <a:gdLst/>
            <a:ahLst/>
            <a:cxnLst/>
            <a:rect r="r" b="b" t="t" l="l"/>
            <a:pathLst>
              <a:path h="785536" w="785536">
                <a:moveTo>
                  <a:pt x="0" y="0"/>
                </a:moveTo>
                <a:lnTo>
                  <a:pt x="785536" y="0"/>
                </a:lnTo>
                <a:lnTo>
                  <a:pt x="785536" y="785536"/>
                </a:lnTo>
                <a:lnTo>
                  <a:pt x="0" y="78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71094" y="850670"/>
            <a:ext cx="884970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4"/>
              </a:lnSpc>
            </a:pPr>
            <a:r>
              <a:rPr lang="en-US" b="true" sz="6499" spc="-272">
                <a:solidFill>
                  <a:srgbClr val="4ABAB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Impact and benefits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8490" y="4540332"/>
            <a:ext cx="6803960" cy="61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Identify recurring drainage and water-management issues</a:t>
            </a:r>
          </a:p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Supports water and climate research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56979" y="2270159"/>
            <a:ext cx="1347793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spc="-3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b="true" sz="1899" spc="-37">
                <a:solidFill>
                  <a:srgbClr val="3458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stead of the traditional approach where the focus is on where the flooding occurs, Flood memory analyses the past, the present and starts creating a solution based on the prediction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8490" y="7421815"/>
            <a:ext cx="6803960" cy="61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Improves public safety and emergency response</a:t>
            </a:r>
          </a:p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Enhances risk perception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8490" y="5787996"/>
            <a:ext cx="6803960" cy="92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Reduces disruption to transport and other businesses</a:t>
            </a:r>
          </a:p>
          <a:p>
            <a:pPr algn="l" marL="386870" indent="-193435" lvl="1">
              <a:lnSpc>
                <a:spcPts val="2508"/>
              </a:lnSpc>
              <a:buFont typeface="Arial"/>
              <a:buChar char="•"/>
            </a:pPr>
            <a:r>
              <a:rPr lang="en-US" sz="1791" spc="-3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Allows the public to protect their assets and reduce structural damage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8709" y="4058891"/>
            <a:ext cx="4901020" cy="4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0"/>
              </a:lnSpc>
            </a:pP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Env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ironmental Benefi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3232" y="5307610"/>
            <a:ext cx="3832626" cy="4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0"/>
              </a:lnSpc>
            </a:pP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Econom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ic Benefi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4114" y="6887707"/>
            <a:ext cx="3832626" cy="4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0"/>
              </a:lnSpc>
            </a:pP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Soc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ial Benefi</a:t>
            </a:r>
            <a:r>
              <a:rPr lang="en-US" b="true" sz="2911" spc="-122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49945" y="3275736"/>
            <a:ext cx="4942769" cy="158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b="true" sz="2071" spc="-86">
                <a:solidFill>
                  <a:srgbClr val="345894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BENEFITS FOR CITIZENS</a:t>
            </a:r>
          </a:p>
          <a:p>
            <a:pPr algn="l" marL="395605" indent="-197803" lvl="1">
              <a:lnSpc>
                <a:spcPts val="2070"/>
              </a:lnSpc>
              <a:buFont typeface="Arial"/>
              <a:buChar char="•"/>
            </a:pP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Has data of </a:t>
            </a: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which roads are risky</a:t>
            </a:r>
          </a:p>
          <a:p>
            <a:pPr algn="l" marL="395605" indent="-197803" lvl="1">
              <a:lnSpc>
                <a:spcPts val="2070"/>
              </a:lnSpc>
              <a:buFont typeface="Arial"/>
              <a:buChar char="•"/>
            </a:pP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Avoids flooded  roads</a:t>
            </a:r>
          </a:p>
          <a:p>
            <a:pPr algn="l" marL="395605" indent="-197803" lvl="1">
              <a:lnSpc>
                <a:spcPts val="2070"/>
              </a:lnSpc>
              <a:buFont typeface="Arial"/>
              <a:buChar char="•"/>
            </a:pP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Understands rainfall-triggered flood risk</a:t>
            </a:r>
          </a:p>
          <a:p>
            <a:pPr algn="l" marL="395605" indent="-197803" lvl="1">
              <a:lnSpc>
                <a:spcPts val="2070"/>
              </a:lnSpc>
              <a:buFont typeface="Arial"/>
              <a:buChar char="•"/>
            </a:pP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Reports flooding in real time</a:t>
            </a:r>
          </a:p>
          <a:p>
            <a:pPr algn="l" marL="395605" indent="-197803" lvl="1">
              <a:lnSpc>
                <a:spcPts val="2070"/>
              </a:lnSpc>
              <a:buFont typeface="Arial"/>
              <a:buChar char="•"/>
            </a:pPr>
            <a:r>
              <a:rPr lang="en-US" sz="1832" spc="-76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Shares on-ground evidence 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121330" y="913906"/>
            <a:ext cx="667414" cy="1008455"/>
          </a:xfrm>
          <a:custGeom>
            <a:avLst/>
            <a:gdLst/>
            <a:ahLst/>
            <a:cxnLst/>
            <a:rect r="r" b="b" t="t" l="l"/>
            <a:pathLst>
              <a:path h="1008455" w="667414">
                <a:moveTo>
                  <a:pt x="0" y="0"/>
                </a:moveTo>
                <a:lnTo>
                  <a:pt x="667413" y="0"/>
                </a:lnTo>
                <a:lnTo>
                  <a:pt x="667413" y="1008454"/>
                </a:lnTo>
                <a:lnTo>
                  <a:pt x="0" y="100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4103680" y="913906"/>
            <a:ext cx="667414" cy="1008455"/>
          </a:xfrm>
          <a:custGeom>
            <a:avLst/>
            <a:gdLst/>
            <a:ahLst/>
            <a:cxnLst/>
            <a:rect r="r" b="b" t="t" l="l"/>
            <a:pathLst>
              <a:path h="1008455" w="667414">
                <a:moveTo>
                  <a:pt x="667414" y="0"/>
                </a:moveTo>
                <a:lnTo>
                  <a:pt x="0" y="0"/>
                </a:lnTo>
                <a:lnTo>
                  <a:pt x="0" y="1008454"/>
                </a:lnTo>
                <a:lnTo>
                  <a:pt x="667414" y="1008454"/>
                </a:lnTo>
                <a:lnTo>
                  <a:pt x="6674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true" rot="0">
            <a:off x="15797089" y="-1243785"/>
            <a:ext cx="4909131" cy="4918073"/>
          </a:xfrm>
          <a:custGeom>
            <a:avLst/>
            <a:gdLst/>
            <a:ahLst/>
            <a:cxnLst/>
            <a:rect r="r" b="b" t="t" l="l"/>
            <a:pathLst>
              <a:path h="4918073" w="4909131">
                <a:moveTo>
                  <a:pt x="0" y="4918073"/>
                </a:moveTo>
                <a:lnTo>
                  <a:pt x="4909131" y="4918073"/>
                </a:lnTo>
                <a:lnTo>
                  <a:pt x="4909131" y="0"/>
                </a:lnTo>
                <a:lnTo>
                  <a:pt x="0" y="0"/>
                </a:lnTo>
                <a:lnTo>
                  <a:pt x="0" y="4918073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63718" y="5048817"/>
            <a:ext cx="5714159" cy="181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3458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BENEFITS FOR AUTHORITIES</a:t>
            </a:r>
          </a:p>
          <a:p>
            <a:pPr algn="l" marL="365727" indent="-182864" lvl="1">
              <a:lnSpc>
                <a:spcPts val="2371"/>
              </a:lnSpc>
              <a:buFont typeface="Arial"/>
              <a:buChar char="•"/>
            </a:pPr>
            <a:r>
              <a:rPr lang="en-US" sz="169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Identifies frequently flooded streets</a:t>
            </a:r>
          </a:p>
          <a:p>
            <a:pPr algn="l" marL="365727" indent="-182864" lvl="1">
              <a:lnSpc>
                <a:spcPts val="2371"/>
              </a:lnSpc>
              <a:buFont typeface="Arial"/>
              <a:buChar char="•"/>
            </a:pPr>
            <a:r>
              <a:rPr lang="en-US" sz="169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Monitors active flood reports</a:t>
            </a:r>
          </a:p>
          <a:p>
            <a:pPr algn="l" marL="365727" indent="-182864" lvl="1">
              <a:lnSpc>
                <a:spcPts val="2371"/>
              </a:lnSpc>
              <a:buFont typeface="Arial"/>
              <a:buChar char="•"/>
            </a:pPr>
            <a:r>
              <a:rPr lang="en-US" sz="169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Prioritizes road closures and emergency response</a:t>
            </a:r>
          </a:p>
          <a:p>
            <a:pPr algn="l" marL="365727" indent="-182864" lvl="1">
              <a:lnSpc>
                <a:spcPts val="2371"/>
              </a:lnSpc>
              <a:buFont typeface="Arial"/>
              <a:buChar char="•"/>
            </a:pPr>
            <a:r>
              <a:rPr lang="en-US" sz="169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Identifies recurring drainage problems</a:t>
            </a:r>
          </a:p>
          <a:p>
            <a:pPr algn="l" marL="365727" indent="-182864" lvl="1">
              <a:lnSpc>
                <a:spcPts val="2371"/>
              </a:lnSpc>
              <a:buFont typeface="Arial"/>
              <a:buChar char="•"/>
            </a:pPr>
            <a:r>
              <a:rPr lang="en-US" sz="169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Supports targeted infrastructure planning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63718" y="7020351"/>
            <a:ext cx="4309546" cy="223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3458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 TERM IMPACT</a:t>
            </a:r>
          </a:p>
          <a:p>
            <a:pPr algn="l" marL="384996" indent="-192498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All time f</a:t>
            </a: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lood reports</a:t>
            </a:r>
          </a:p>
          <a:p>
            <a:pPr algn="l" marL="384996" indent="-192498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Better historical database</a:t>
            </a:r>
          </a:p>
          <a:p>
            <a:pPr algn="l" marL="384996" indent="-192498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Better predictions</a:t>
            </a:r>
          </a:p>
          <a:p>
            <a:pPr algn="l" marL="384996" indent="-192498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Better decisions</a:t>
            </a:r>
          </a:p>
          <a:p>
            <a:pPr algn="l" marL="384996" indent="-192498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4ABAB9"/>
                </a:solidFill>
                <a:latin typeface="Open Sauce"/>
                <a:ea typeface="Open Sauce"/>
                <a:cs typeface="Open Sauce"/>
                <a:sym typeface="Open Sauce"/>
              </a:rPr>
              <a:t> Safer communities</a:t>
            </a:r>
          </a:p>
          <a:p>
            <a:pPr algn="l">
              <a:lnSpc>
                <a:spcPts val="24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6908" y="233837"/>
            <a:ext cx="15814183" cy="10053163"/>
          </a:xfrm>
          <a:custGeom>
            <a:avLst/>
            <a:gdLst/>
            <a:ahLst/>
            <a:cxnLst/>
            <a:rect r="r" b="b" t="t" l="l"/>
            <a:pathLst>
              <a:path h="10053163" w="15814183">
                <a:moveTo>
                  <a:pt x="0" y="0"/>
                </a:moveTo>
                <a:lnTo>
                  <a:pt x="15814184" y="0"/>
                </a:lnTo>
                <a:lnTo>
                  <a:pt x="15814184" y="10053163"/>
                </a:lnTo>
                <a:lnTo>
                  <a:pt x="0" y="10053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" t="-3410" r="-1845" b="-46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71117" y="-201145"/>
            <a:ext cx="4767425" cy="1780861"/>
            <a:chOff x="0" y="0"/>
            <a:chExt cx="1255618" cy="4690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5618" cy="469033"/>
            </a:xfrm>
            <a:custGeom>
              <a:avLst/>
              <a:gdLst/>
              <a:ahLst/>
              <a:cxnLst/>
              <a:rect r="r" b="b" t="t" l="l"/>
              <a:pathLst>
                <a:path h="469033" w="1255618">
                  <a:moveTo>
                    <a:pt x="0" y="0"/>
                  </a:moveTo>
                  <a:lnTo>
                    <a:pt x="1255618" y="0"/>
                  </a:lnTo>
                  <a:lnTo>
                    <a:pt x="1255618" y="469033"/>
                  </a:lnTo>
                  <a:lnTo>
                    <a:pt x="0" y="4690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5618" cy="50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DAHTluamAh4</dc:identifier>
  <dcterms:modified xsi:type="dcterms:W3CDTF">2011-08-01T06:04:30Z</dcterms:modified>
  <cp:revision>1</cp:revision>
  <dc:title>Blue White And Teal Modern Water Conservation Presentation</dc:title>
</cp:coreProperties>
</file>